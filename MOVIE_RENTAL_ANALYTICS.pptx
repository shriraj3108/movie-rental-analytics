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46"/>
  </p:normalViewPr>
  <p:slideViewPr>
    <p:cSldViewPr snapToGrid="0">
      <p:cViewPr varScale="1">
        <p:scale>
          <a:sx n="108" d="100"/>
          <a:sy n="108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89C8-5A3C-7C22-E874-5FB3F81B3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0062" y="1800568"/>
            <a:ext cx="7191876" cy="1171005"/>
          </a:xfrm>
        </p:spPr>
        <p:txBody>
          <a:bodyPr/>
          <a:lstStyle/>
          <a:p>
            <a:r>
              <a:rPr lang="en-US" dirty="0"/>
              <a:t>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6A6EC5-4B85-D173-D706-2CFDDBE76E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8469" y="3429000"/>
            <a:ext cx="6295061" cy="615235"/>
          </a:xfrm>
        </p:spPr>
        <p:txBody>
          <a:bodyPr>
            <a:noAutofit/>
          </a:bodyPr>
          <a:lstStyle/>
          <a:p>
            <a:r>
              <a:rPr lang="en-US" sz="3200" dirty="0"/>
              <a:t>movie rental analytics</a:t>
            </a:r>
          </a:p>
        </p:txBody>
      </p:sp>
    </p:spTree>
    <p:extLst>
      <p:ext uri="{BB962C8B-B14F-4D97-AF65-F5344CB8AC3E}">
        <p14:creationId xmlns:p14="http://schemas.microsoft.com/office/powerpoint/2010/main" val="216383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3346-71EF-553B-E6B5-C4DD70B85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CEE67-A567-943B-0589-FAA844EDD00C}"/>
              </a:ext>
            </a:extLst>
          </p:cNvPr>
          <p:cNvSpPr txBox="1"/>
          <p:nvPr/>
        </p:nvSpPr>
        <p:spPr>
          <a:xfrm>
            <a:off x="8052397" y="2369038"/>
            <a:ext cx="3656673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India, China, and the United States contribute the highest rental revenue.</a:t>
            </a:r>
            <a:br>
              <a:rPr lang="en-US" sz="1600" dirty="0"/>
            </a:br>
            <a:r>
              <a:rPr lang="en-US" sz="1600" dirty="0"/>
              <a:t>Average rental duration is approximately </a:t>
            </a:r>
            <a:r>
              <a:rPr lang="en-US" sz="1600" b="1" dirty="0"/>
              <a:t>4.7 days</a:t>
            </a:r>
            <a:r>
              <a:rPr lang="en-US" sz="1600" dirty="0"/>
              <a:t>, with an average rental rate of </a:t>
            </a:r>
            <a:r>
              <a:rPr lang="en-US" sz="1600" b="1" dirty="0"/>
              <a:t>2.99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distribution is spread across multiple cities, indicating geographically diversified demand.</a:t>
            </a:r>
          </a:p>
          <a:p>
            <a:endParaRPr lang="en-US" sz="1600" dirty="0"/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sz="1400" dirty="0"/>
              <a:t>Revenue is concentrated in key countries, but customer presence is globally distributed.</a:t>
            </a:r>
          </a:p>
          <a:p>
            <a:endParaRPr lang="en-US" dirty="0"/>
          </a:p>
        </p:txBody>
      </p:sp>
      <p:pic>
        <p:nvPicPr>
          <p:cNvPr id="7" name="Content Placeholder 6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3D506D3F-17D1-B9BA-EC09-67E5DA099B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717" y="2468032"/>
            <a:ext cx="6891992" cy="38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04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BDFE-AED2-99D1-D4C8-A6D4379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384092" cy="706964"/>
          </a:xfrm>
        </p:spPr>
        <p:txBody>
          <a:bodyPr/>
          <a:lstStyle/>
          <a:p>
            <a:r>
              <a:rPr lang="en-US" dirty="0"/>
              <a:t>REVENUE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B72CE-FABE-4238-5F30-0582EA7BF0D6}"/>
              </a:ext>
            </a:extLst>
          </p:cNvPr>
          <p:cNvSpPr txBox="1"/>
          <p:nvPr/>
        </p:nvSpPr>
        <p:spPr>
          <a:xfrm>
            <a:off x="7966075" y="2404208"/>
            <a:ext cx="3821723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 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Total revenue generated is </a:t>
            </a:r>
            <a:r>
              <a:rPr lang="en-US" sz="1600" b="1" dirty="0"/>
              <a:t>67.41K</a:t>
            </a:r>
            <a:r>
              <a:rPr lang="en-US" sz="1600" dirty="0"/>
              <a:t> with total rental frequency of </a:t>
            </a:r>
            <a:r>
              <a:rPr lang="en-US" sz="1600" b="1" dirty="0"/>
              <a:t>129M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Monthly revenue trends show peak performance mid-year, followed by a gradual decline.</a:t>
            </a:r>
            <a:br>
              <a:rPr lang="en-US" sz="1600" dirty="0"/>
            </a:br>
            <a:r>
              <a:rPr lang="en-US" sz="1600" dirty="0"/>
              <a:t>Top revenue-generating categories include </a:t>
            </a:r>
            <a:r>
              <a:rPr lang="en-US" sz="1600" b="1" dirty="0"/>
              <a:t>Sports, Sci-Fi, Animation, and Action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Rental duration between 4–6 days contributes the highest revenue.</a:t>
            </a:r>
          </a:p>
          <a:p>
            <a:endParaRPr lang="en-US" sz="1600" dirty="0"/>
          </a:p>
          <a:p>
            <a:endParaRPr lang="en-US" dirty="0"/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3039AE-3ECA-4A31-1ACD-65BF1BF3E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080" y="2503656"/>
            <a:ext cx="7101003" cy="388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5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36FEA-7399-F8C2-3D80-761C1505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9935077" cy="706964"/>
          </a:xfrm>
        </p:spPr>
        <p:txBody>
          <a:bodyPr/>
          <a:lstStyle/>
          <a:p>
            <a:r>
              <a:rPr lang="en-US" dirty="0"/>
              <a:t>CUSTOMER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59BE2-B8DD-EE6A-50F5-594359D9D89F}"/>
              </a:ext>
            </a:extLst>
          </p:cNvPr>
          <p:cNvSpPr txBox="1"/>
          <p:nvPr/>
        </p:nvSpPr>
        <p:spPr>
          <a:xfrm>
            <a:off x="8346831" y="2147896"/>
            <a:ext cx="35052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 –</a:t>
            </a:r>
          </a:p>
          <a:p>
            <a:r>
              <a:rPr lang="en-US" b="1" dirty="0"/>
              <a:t>Total customers: 599</a:t>
            </a:r>
            <a:br>
              <a:rPr lang="en-US" dirty="0"/>
            </a:br>
            <a:r>
              <a:rPr lang="en-US" b="1" dirty="0"/>
              <a:t>Total revenue: 67.41K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revenue contribution is relatively evenly distributed, with top customers contributing moderately higher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ratings distribution shows balanced engagement across categories.</a:t>
            </a:r>
          </a:p>
          <a:p>
            <a:endParaRPr lang="en-US" sz="1600" dirty="0"/>
          </a:p>
          <a:p>
            <a:r>
              <a:rPr lang="en-US" b="1" dirty="0"/>
              <a:t>Insight:</a:t>
            </a:r>
            <a:r>
              <a:rPr lang="en-US" dirty="0"/>
              <a:t> </a:t>
            </a:r>
            <a:r>
              <a:rPr lang="en-US" sz="1600" dirty="0"/>
              <a:t>No heavy revenue dependency on a small customer group — revenue base is diversified.</a:t>
            </a:r>
          </a:p>
          <a:p>
            <a:endParaRPr lang="en-US" b="1" dirty="0"/>
          </a:p>
        </p:txBody>
      </p:sp>
      <p:pic>
        <p:nvPicPr>
          <p:cNvPr id="8" name="Content Placeholder 7" descr="A screenshot of a customer analysis dashboard&#10;&#10;AI-generated content may be incorrect.">
            <a:extLst>
              <a:ext uri="{FF2B5EF4-FFF2-40B4-BE49-F238E27FC236}">
                <a16:creationId xmlns:a16="http://schemas.microsoft.com/office/drawing/2014/main" id="{949CB580-8193-3EE8-1BB3-B0D30EB4A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612" y="2365994"/>
            <a:ext cx="6630335" cy="40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2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BA79-2780-BEDD-A395-BF9D4C55B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RENTAL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584AEB-0F3D-60B2-A25A-82391DFC0C9E}"/>
              </a:ext>
            </a:extLst>
          </p:cNvPr>
          <p:cNvSpPr txBox="1"/>
          <p:nvPr/>
        </p:nvSpPr>
        <p:spPr>
          <a:xfrm>
            <a:off x="7526369" y="2468012"/>
            <a:ext cx="43541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 -</a:t>
            </a:r>
          </a:p>
          <a:p>
            <a:r>
              <a:rPr lang="en-US" b="1" dirty="0"/>
              <a:t>Total rentals: 129M</a:t>
            </a:r>
            <a:br>
              <a:rPr lang="en-US" dirty="0"/>
            </a:br>
            <a:r>
              <a:rPr lang="en-US" b="1" dirty="0"/>
              <a:t>Average rental duration: 4.99 days</a:t>
            </a:r>
            <a:br>
              <a:rPr lang="en-US" dirty="0"/>
            </a:br>
            <a:r>
              <a:rPr lang="en-US" b="1" dirty="0"/>
              <a:t>Average rental rate:</a:t>
            </a:r>
            <a:r>
              <a:rPr lang="en-US" dirty="0"/>
              <a:t> </a:t>
            </a:r>
            <a:r>
              <a:rPr lang="en-US" b="1" dirty="0"/>
              <a:t>2.98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Rental volume peaked around mid-2005 and declined afterward.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Insight:</a:t>
            </a:r>
            <a:r>
              <a:rPr lang="en-US" dirty="0"/>
              <a:t> Rental demand is time-sensitive with clear seasonal trends.</a:t>
            </a:r>
          </a:p>
          <a:p>
            <a:endParaRPr lang="en-US" dirty="0"/>
          </a:p>
        </p:txBody>
      </p:sp>
      <p:pic>
        <p:nvPicPr>
          <p:cNvPr id="8" name="Content Placeholder 7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6E75DA09-22DC-DC6E-AAEF-F39A1F9B4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639" y="2491782"/>
            <a:ext cx="6650182" cy="40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9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09F8-D983-BBAE-E02A-61A998A2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ACTOR ANALYSIS</a:t>
            </a:r>
          </a:p>
        </p:txBody>
      </p:sp>
      <p:pic>
        <p:nvPicPr>
          <p:cNvPr id="5" name="Content Placeholder 4" descr="A screenshot of a computer monitor&#10;&#10;AI-generated content may be incorrect.">
            <a:extLst>
              <a:ext uri="{FF2B5EF4-FFF2-40B4-BE49-F238E27FC236}">
                <a16:creationId xmlns:a16="http://schemas.microsoft.com/office/drawing/2014/main" id="{A03BC7F9-2B56-4DB7-07F6-EC004B17D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454" y="2468031"/>
            <a:ext cx="7203136" cy="4087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05A546-558C-E96F-0931-EF554596A25F}"/>
              </a:ext>
            </a:extLst>
          </p:cNvPr>
          <p:cNvSpPr txBox="1"/>
          <p:nvPr/>
        </p:nvSpPr>
        <p:spPr>
          <a:xfrm>
            <a:off x="8353396" y="2307862"/>
            <a:ext cx="312594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Top actors such as </a:t>
            </a:r>
            <a:r>
              <a:rPr lang="en-US" sz="1600" b="1" dirty="0"/>
              <a:t>Kenneth and Penelope</a:t>
            </a:r>
            <a:r>
              <a:rPr lang="en-US" sz="1600" dirty="0"/>
              <a:t> contribute the highest revenue (~6K+).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Actors with higher film participation tend to generate more revenue.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Film count per actor ranges between 75–103 films.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Insight:</a:t>
            </a:r>
            <a:r>
              <a:rPr lang="en-US" sz="1600" dirty="0"/>
              <a:t> Revenue strongly correlates with actor participation and popularity.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833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610F0-58AD-8B7D-AC81-2B93BDB36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FILM ANALYSIS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B45F98-FF9F-BB0A-177A-754B3AD99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761" y="2389744"/>
            <a:ext cx="7425205" cy="41891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920762-6AAA-DA09-D0C5-1763891291FA}"/>
              </a:ext>
            </a:extLst>
          </p:cNvPr>
          <p:cNvSpPr txBox="1"/>
          <p:nvPr/>
        </p:nvSpPr>
        <p:spPr>
          <a:xfrm>
            <a:off x="8296894" y="2389744"/>
            <a:ext cx="372093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rental rate:</a:t>
            </a:r>
            <a:r>
              <a:rPr lang="en-US" dirty="0"/>
              <a:t> </a:t>
            </a:r>
            <a:r>
              <a:rPr lang="en-US" b="1" dirty="0"/>
              <a:t>2.98K</a:t>
            </a:r>
            <a:endParaRPr lang="en-US" dirty="0"/>
          </a:p>
          <a:p>
            <a:r>
              <a:rPr lang="en-US" b="1" dirty="0"/>
              <a:t>Top inventory categories: Sports (344)</a:t>
            </a:r>
            <a:r>
              <a:rPr lang="en-US" dirty="0"/>
              <a:t> and </a:t>
            </a:r>
            <a:r>
              <a:rPr lang="en-US" b="1" dirty="0"/>
              <a:t>Animation (335)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Rental demand is evenly distributed across multiple films.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inventory categories include Music and Travel.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Insight:</a:t>
            </a:r>
            <a:r>
              <a:rPr lang="en-US" sz="1600" dirty="0"/>
              <a:t> Inventory allocation aligns with high-demand genres, ensuring balanced revenue generation.</a:t>
            </a:r>
          </a:p>
        </p:txBody>
      </p:sp>
    </p:spTree>
    <p:extLst>
      <p:ext uri="{BB962C8B-B14F-4D97-AF65-F5344CB8AC3E}">
        <p14:creationId xmlns:p14="http://schemas.microsoft.com/office/powerpoint/2010/main" val="39566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234DE-A05B-1D01-B099-E46D5F8F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50222"/>
            <a:ext cx="8761413" cy="706964"/>
          </a:xfrm>
        </p:spPr>
        <p:txBody>
          <a:bodyPr/>
          <a:lstStyle/>
          <a:p>
            <a:br>
              <a:rPr lang="en-US" b="1" dirty="0"/>
            </a:br>
            <a:r>
              <a:rPr lang="en-US" b="1" dirty="0"/>
              <a:t>Overall Business Insight Summary</a:t>
            </a:r>
            <a:br>
              <a:rPr lang="en-US" b="1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97C568-1346-B548-BDB2-DF39353C4339}"/>
              </a:ext>
            </a:extLst>
          </p:cNvPr>
          <p:cNvSpPr txBox="1"/>
          <p:nvPr/>
        </p:nvSpPr>
        <p:spPr>
          <a:xfrm>
            <a:off x="874956" y="2567355"/>
            <a:ext cx="94999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Revenue is Diversified and Stable</a:t>
            </a:r>
            <a:br>
              <a:rPr lang="en-US" dirty="0"/>
            </a:br>
            <a:r>
              <a:rPr lang="en-US" dirty="0"/>
              <a:t>Revenue is not dependent on a single country, customer, or film — demand is well distributed across locations and segments.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High-Performing Genres Drive Profitability</a:t>
            </a:r>
            <a:br>
              <a:rPr lang="en-US" dirty="0"/>
            </a:br>
            <a:r>
              <a:rPr lang="en-US" dirty="0"/>
              <a:t>Sports, Animation, Sci-Fi, and Action categories generate the strongest revenue and justify higher inventory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Actor Popularity Impacts Revenue</a:t>
            </a:r>
            <a:br>
              <a:rPr lang="en-US" dirty="0"/>
            </a:br>
            <a:r>
              <a:rPr lang="en-US" dirty="0"/>
              <a:t>Actors with higher film participation significantly contribute to rental revenue, showing a clear popularity–performance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Seasonal Rental Trends Exist</a:t>
            </a:r>
            <a:br>
              <a:rPr lang="en-US" dirty="0"/>
            </a:br>
            <a:r>
              <a:rPr lang="en-US" dirty="0"/>
              <a:t>Rental demand peaks during specific months, indicating seasonal behavior that can guide promotional and inventory strategies.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49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A5A8-AF2F-42AB-5078-C0B506EE4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924" y="3177607"/>
            <a:ext cx="8761413" cy="706964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6FAEB-3B8F-B275-8377-A9EDD550B866}"/>
              </a:ext>
            </a:extLst>
          </p:cNvPr>
          <p:cNvSpPr txBox="1"/>
          <p:nvPr/>
        </p:nvSpPr>
        <p:spPr>
          <a:xfrm>
            <a:off x="3657599" y="2875002"/>
            <a:ext cx="6307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6">
                    <a:lumMod val="50000"/>
                  </a:schemeClr>
                </a:solidFill>
              </a:rPr>
              <a:t>THANK YOU 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40664241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59</TotalTime>
  <Words>431</Words>
  <Application>Microsoft Macintosh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CAPSTONE PROJECT</vt:lpstr>
      <vt:lpstr>LOCATION ANALYSIS</vt:lpstr>
      <vt:lpstr>REVENUE ANALYSIS</vt:lpstr>
      <vt:lpstr>CUSTOMER ANALYSIS</vt:lpstr>
      <vt:lpstr>RENTAL ANALYSIS</vt:lpstr>
      <vt:lpstr>ACTOR ANALYSIS</vt:lpstr>
      <vt:lpstr>FILM ANALYSIS</vt:lpstr>
      <vt:lpstr> Overall Business Insight Summary </vt:lpstr>
      <vt:lpstr>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Shriraj Raktate</dc:creator>
  <cp:lastModifiedBy>Shriraj Raktate</cp:lastModifiedBy>
  <cp:revision>9</cp:revision>
  <dcterms:created xsi:type="dcterms:W3CDTF">2026-02-13T08:42:33Z</dcterms:created>
  <dcterms:modified xsi:type="dcterms:W3CDTF">2026-02-22T16:03:05Z</dcterms:modified>
</cp:coreProperties>
</file>